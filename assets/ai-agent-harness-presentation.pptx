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18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781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01049" y="126950"/>
            <a:ext cx="1816001" cy="1816001"/>
          </a:xfrm>
          <a:prstGeom prst="roundRect">
            <a:avLst>
              <a:gd name="adj" fmla="val 50352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0049" y="3835598"/>
            <a:ext cx="1054001" cy="1054001"/>
          </a:xfrm>
          <a:prstGeom prst="roundRect">
            <a:avLst>
              <a:gd name="adj" fmla="val 86755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589038"/>
            <a:ext cx="60436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0"/>
              </a:spcAft>
              <a:buNone/>
            </a:pPr>
            <a:r>
              <a:rPr lang="en-US" sz="1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FastAPI + Langfuse + PostgreSQL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236738"/>
            <a:ext cx="604364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Production-Ready</a:t>
            </a:r>
            <a:endParaRPr lang="en-US" sz="34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Harness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7950" y="3379738"/>
            <a:ext cx="60436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shell that wraps around your agent so you only write the brain.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3655963"/>
            <a:ext cx="60436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825401"/>
            <a:ext cx="8001149" cy="710952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825401"/>
            <a:ext cx="0" cy="710952"/>
          </a:xfrm>
          <a:prstGeom prst="line">
            <a:avLst/>
          </a:prstGeom>
          <a:noFill/>
          <a:ln w="47625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9476" y="1028551"/>
            <a:ext cx="759463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AI agent is </a:t>
            </a: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"The Brain"</a:t>
            </a:r>
            <a:r>
              <a: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"The Plumbing."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1891754"/>
            <a:ext cx="2863751" cy="536377"/>
          </a:xfrm>
          <a:prstGeom prst="roundRect">
            <a:avLst>
              <a:gd name="adj" fmla="val 14206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9875" y="200278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9875" y="2183755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tokens, session management, rate limiting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98652" y="1891754"/>
            <a:ext cx="2863751" cy="536377"/>
          </a:xfrm>
          <a:prstGeom prst="roundRect">
            <a:avLst>
              <a:gd name="adj" fmla="val 14206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60577" y="200278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60577" y="2183755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injection, PII detection, output guardrails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555081"/>
            <a:ext cx="2863751" cy="536377"/>
          </a:xfrm>
          <a:prstGeom prst="roundRect">
            <a:avLst>
              <a:gd name="adj" fmla="val 14206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9875" y="266610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9875" y="2847082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Tracing, metrics, structured logging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98652" y="2555081"/>
            <a:ext cx="2863751" cy="536377"/>
          </a:xfrm>
          <a:prstGeom prst="roundRect">
            <a:avLst>
              <a:gd name="adj" fmla="val 14206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60577" y="266610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Memory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60577" y="2847082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persistence, long-term memory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218408"/>
            <a:ext cx="2863751" cy="536377"/>
          </a:xfrm>
          <a:prstGeom prst="roundRect">
            <a:avLst>
              <a:gd name="adj" fmla="val 14206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9875" y="332943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9875" y="351040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 eviction, conversation summarization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98652" y="3218408"/>
            <a:ext cx="2863751" cy="536377"/>
          </a:xfrm>
          <a:prstGeom prst="roundRect">
            <a:avLst>
              <a:gd name="adj" fmla="val 14206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660577" y="332943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60577" y="351040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Retries, exponential backoff, graceful degradation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3907185"/>
            <a:ext cx="8161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tutorials stop right before any of this matters.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 HARNESS?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825401"/>
            <a:ext cx="39833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the Brain.</a:t>
            </a:r>
            <a:endParaRPr lang="en-US" sz="22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Provides</a:t>
            </a:r>
            <a:endParaRPr lang="en-US" sz="2200" dirty="0"/>
          </a:p>
          <a:p>
            <a:pPr marL="0" indent="0" algn="l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126977"/>
            <a:ext cx="3983355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harness is like a test harness, but for production concerns instead of assertions. It is the infrastructure shell that wraps around your agent.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822972"/>
            <a:ext cx="3905250" cy="774502"/>
          </a:xfrm>
          <a:prstGeom prst="roundRect">
            <a:avLst>
              <a:gd name="adj" fmla="val 9839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176" y="2984897"/>
            <a:ext cx="3601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(You Write)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5176" y="3245197"/>
            <a:ext cx="3601414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logic, system prompt, custom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3724424"/>
            <a:ext cx="3905250" cy="964853"/>
          </a:xfrm>
          <a:prstGeom prst="roundRect">
            <a:avLst>
              <a:gd name="adj" fmla="val 7898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95176" y="3886349"/>
            <a:ext cx="36014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 (Provided)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5176" y="4146649"/>
            <a:ext cx="360141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guardrails, memory, checkpointing, observability, metrics, rate limiting, deployment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0651" y="825401"/>
            <a:ext cx="3905399" cy="3751362"/>
          </a:xfrm>
          <a:prstGeom prst="roundRect">
            <a:avLst>
              <a:gd name="adj" fmla="val 203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2852" y="1003102"/>
            <a:ext cx="3620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72852" y="1247477"/>
            <a:ext cx="36209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2852" y="1520428"/>
            <a:ext cx="3620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JWT Auth + Rate Limiting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2852" y="1774329"/>
            <a:ext cx="36209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2852" y="2047280"/>
            <a:ext cx="3620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Guardrails (PII, Injection)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2852" y="2301180"/>
            <a:ext cx="36209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2852" y="2574131"/>
            <a:ext cx="3620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LOGIC (LangGraph)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72852" y="2828032"/>
            <a:ext cx="36209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2852" y="3100983"/>
            <a:ext cx="3620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Guardrails (PII Redaction, Safety)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2852" y="3354884"/>
            <a:ext cx="36209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2852" y="3627834"/>
            <a:ext cx="3620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Tracing + Prometheus Metrics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2852" y="3881735"/>
            <a:ext cx="36209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2852" y="4154686"/>
            <a:ext cx="3620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to User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48190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 of Concerns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209675"/>
            <a:ext cx="4724549" cy="2558058"/>
          </a:xfrm>
          <a:prstGeom prst="roundRect">
            <a:avLst>
              <a:gd name="adj" fmla="val 2979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9875" y="1346150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9875" y="1473101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</a:t>
            </a: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.............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9875" y="1600051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chatbot/  # Custom graph workflow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69875" y="1727002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open_deep_research/ # Multi-agent supervisor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9875" y="1853952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text_to_sql/  # ReAct (Deep Agents)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9875" y="1980902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  # Shared tools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9875" y="2107853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9875" y="2234803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v1/  # Versioned routes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9875" y="2361754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security/  # Auth + rate limiting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9875" y="2488704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</a:t>
            </a: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.............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9875" y="2615654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guardrails/  # Input/output safety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9875" y="2742605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  # Context overflow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69875" y="2869555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memory/  # Long-term (mem0)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9875" y="2996505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checkpoint/  # State persistence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9875" y="3123456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mcp/  # Model Context Protocol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9875" y="3250406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  # Prometheus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9875" y="3377357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 </a:t>
            </a: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................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9875" y="3504307"/>
            <a:ext cx="4488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  # LLM-as-Judge evals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0" y="762000"/>
            <a:ext cx="3212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1063526"/>
            <a:ext cx="3149650" cy="463451"/>
          </a:xfrm>
          <a:prstGeom prst="roundRect">
            <a:avLst>
              <a:gd name="adj" fmla="val 10961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22875" y="1149251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22875" y="1307902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 orchestration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1590377"/>
            <a:ext cx="3149650" cy="463451"/>
          </a:xfrm>
          <a:prstGeom prst="roundRect">
            <a:avLst>
              <a:gd name="adj" fmla="val 10961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22875" y="1676102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22875" y="1834753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REST API + SSE streaming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2117229"/>
            <a:ext cx="3149650" cy="463451"/>
          </a:xfrm>
          <a:prstGeom prst="roundRect">
            <a:avLst>
              <a:gd name="adj" fmla="val 10961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22875" y="2202954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2875" y="2361605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observability and tracing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2644080"/>
            <a:ext cx="3149650" cy="463451"/>
          </a:xfrm>
          <a:prstGeom prst="roundRect">
            <a:avLst>
              <a:gd name="adj" fmla="val 10961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22875" y="2729805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22875" y="2888456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memory + state storage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0" y="3170932"/>
            <a:ext cx="3149650" cy="463451"/>
          </a:xfrm>
          <a:prstGeom prst="roundRect">
            <a:avLst>
              <a:gd name="adj" fmla="val 10961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22875" y="3256657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mem0ai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22875" y="3415308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long-term memory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3697784"/>
            <a:ext cx="3149650" cy="463451"/>
          </a:xfrm>
          <a:prstGeom prst="roundRect">
            <a:avLst>
              <a:gd name="adj" fmla="val 10961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622875" y="3783509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22875" y="3942159"/>
            <a:ext cx="2934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and dashboards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338935"/>
            <a:ext cx="3149650" cy="522982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505450" y="4338935"/>
            <a:ext cx="0" cy="522982"/>
          </a:xfrm>
          <a:prstGeom prst="line">
            <a:avLst/>
          </a:prstGeom>
          <a:noFill/>
          <a:ln w="381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51450" y="4440436"/>
            <a:ext cx="291480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design:</a:t>
            </a: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are self-contained directories. Everything else is injected by the harness.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AGENT ARCHITECTURES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762000"/>
            <a:ext cx="2633216" cy="4127599"/>
          </a:xfrm>
          <a:prstGeom prst="roundRect">
            <a:avLst>
              <a:gd name="adj" fmla="val 38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781050"/>
            <a:ext cx="2633216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72854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4401" y="4884837"/>
            <a:ext cx="26332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163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1627" y="977801"/>
            <a:ext cx="2303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Graph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1627" y="1200001"/>
            <a:ext cx="23039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Agent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1627" y="1486942"/>
            <a:ext cx="2303940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Hand-crafted LangGraph StateGraph with explicit nodes and edges. Full control over execution flow.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1627" y="2117824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627" y="2298204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input_guardrail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627" y="2465784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chat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1627" y="2633365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tool_call (loop)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1627" y="2800945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output_guardrail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1627" y="3070027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31627" y="3250406"/>
            <a:ext cx="230394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-- every edge is explicit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1627" y="3579168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1627" y="3835747"/>
            <a:ext cx="2258764" cy="386060"/>
          </a:xfrm>
          <a:prstGeom prst="roundRect">
            <a:avLst>
              <a:gd name="adj" fmla="val 1315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3127" y="3886498"/>
            <a:ext cx="2096878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simple workflows, general-purpose assistants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55318" y="762000"/>
            <a:ext cx="2633365" cy="4127599"/>
          </a:xfrm>
          <a:prstGeom prst="roundRect">
            <a:avLst>
              <a:gd name="adj" fmla="val 38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55318" y="781050"/>
            <a:ext cx="2633365" cy="0"/>
          </a:xfrm>
          <a:prstGeom prst="line">
            <a:avLst/>
          </a:prstGeom>
          <a:noFill/>
          <a:ln w="38100">
            <a:solidFill>
              <a:srgbClr val="F78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83920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5318" y="4884837"/>
            <a:ext cx="263336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60080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42543" y="977801"/>
            <a:ext cx="23040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Subgraphs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42543" y="1200001"/>
            <a:ext cx="23040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 Agent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42543" y="1486942"/>
            <a:ext cx="2304092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plans, then delegates to parallel researcher subagents. Each subagent has its own ReAct loop.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42543" y="2117824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42543" y="2298204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 -&gt; brief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42543" y="2465784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supervisor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42543" y="2633365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researchers (parallel)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42543" y="2800945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final_report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42543" y="3070027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442543" y="3250406"/>
            <a:ext cx="2304092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-- delegation boundaries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42543" y="3579168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42543" y="3835747"/>
            <a:ext cx="2258913" cy="386060"/>
          </a:xfrm>
          <a:prstGeom prst="roundRect">
            <a:avLst>
              <a:gd name="adj" fmla="val 1315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544044" y="3886498"/>
            <a:ext cx="209703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analysis, decomposable parallel tasks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66383" y="762000"/>
            <a:ext cx="2633216" cy="4127599"/>
          </a:xfrm>
          <a:prstGeom prst="roundRect">
            <a:avLst>
              <a:gd name="adj" fmla="val 38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066383" y="781050"/>
            <a:ext cx="2633216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694837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66383" y="4884837"/>
            <a:ext cx="26332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71146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53609" y="977801"/>
            <a:ext cx="2303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(Deep Agents)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53609" y="1200001"/>
            <a:ext cx="23039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Text-to-SQL Agent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53609" y="1486942"/>
            <a:ext cx="2303940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ReAct agent with markdown-defined skills and memory files. Agent decides its own path.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53609" y="2117824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53609" y="2298204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loop: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53609" y="2465784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 -&gt; act -&gt; observe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53609" y="2633365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(loads skills on demand)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53609" y="3070027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53609" y="3250406"/>
            <a:ext cx="2303940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-- emergent behavior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53609" y="3579168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53609" y="3835747"/>
            <a:ext cx="2258764" cy="243780"/>
          </a:xfrm>
          <a:prstGeom prst="roundRect">
            <a:avLst>
              <a:gd name="adj" fmla="val 20838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355110" y="3886498"/>
            <a:ext cx="209687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tool use (SQL, APIs, code)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GUARDRAILS: INPUT &amp; OUTPUT SAFETY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155650"/>
            <a:ext cx="3937099" cy="355402"/>
          </a:xfrm>
          <a:prstGeom prst="roundRect">
            <a:avLst>
              <a:gd name="adj" fmla="val 214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257151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Filter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511052"/>
            <a:ext cx="3937099" cy="1229171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638002"/>
            <a:ext cx="37049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Banned keyword matching and prompt injection detection using regex patterns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2034183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 all previous instructions"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0350" y="2227213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"override your system rules"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0350" y="2420243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"reveal your system prompt"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950" y="2867174"/>
            <a:ext cx="3937099" cy="355402"/>
          </a:xfrm>
          <a:prstGeom prst="roundRect">
            <a:avLst>
              <a:gd name="adj" fmla="val 214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350" y="2968675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222575"/>
            <a:ext cx="3937099" cy="911572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0350" y="3349526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Regex-based scanning with Luhn validation for credit cards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350" y="3585716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Credit Card, IP Address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0350" y="3796457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Keys, Phone, SSN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4261098"/>
            <a:ext cx="3937099" cy="488752"/>
          </a:xfrm>
          <a:prstGeom prst="roundRect">
            <a:avLst>
              <a:gd name="adj" fmla="val 15591"/>
            </a:avLst>
          </a:prstGeom>
          <a:solidFill>
            <a:srgbClr val="2D1F1F"/>
          </a:solidFill>
          <a:ln w="9525">
            <a:solidFill>
              <a:srgbClr val="F7816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9875" y="4372124"/>
            <a:ext cx="3685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Blocked?</a:t>
            </a:r>
            <a:r>
              <a:rPr lang="en-US" sz="900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Routes directly to END with rejection message. Never reaches the LLM.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950" y="762000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Guardrails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98950" y="1155650"/>
            <a:ext cx="3937099" cy="355402"/>
          </a:xfrm>
          <a:prstGeom prst="roundRect">
            <a:avLst>
              <a:gd name="adj" fmla="val 214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51350" y="1257151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8950" y="1511052"/>
            <a:ext cx="3937099" cy="1305371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1350" y="1638002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output and replaces detected PII before reaching the user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51350" y="1874193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[REDACTED_EMAIL]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51350" y="2067223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[REDACTED_SSN]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51350" y="2260253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[REDACTED_CREDIT_CARD]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51350" y="2453283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Strategies: redact, mask, hash, or block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2943374"/>
            <a:ext cx="3937099" cy="355402"/>
          </a:xfrm>
          <a:prstGeom prst="roundRect">
            <a:avLst>
              <a:gd name="adj" fmla="val 214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1350" y="3044875"/>
            <a:ext cx="37049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Safety Evaluation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98950" y="3298775"/>
            <a:ext cx="3937099" cy="726281"/>
          </a:xfrm>
          <a:prstGeom prst="rect">
            <a:avLst/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51350" y="3425726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low-cost model classifies response as SAFE or UNSAFE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51350" y="3661916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responses replaced with standard message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98950" y="4152007"/>
            <a:ext cx="3937099" cy="488752"/>
          </a:xfrm>
          <a:prstGeom prst="roundRect">
            <a:avLst>
              <a:gd name="adj" fmla="val 15591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60875" y="4263033"/>
            <a:ext cx="3685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Fail-open design:</a:t>
            </a:r>
            <a:r>
              <a:rPr lang="en-US" sz="9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safety check errors, response passes through. Safety never becomes a point of failure.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155650"/>
            <a:ext cx="401584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semantic memory backed by mem0 + pgvector. Retrieved before every invocation, updated after.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688753"/>
            <a:ext cx="3937099" cy="822722"/>
          </a:xfrm>
          <a:prstGeom prst="roundRect">
            <a:avLst>
              <a:gd name="adj" fmla="val 926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1815703"/>
            <a:ext cx="370494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Retrieve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0350" y="2031504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invocation, search relevant memories by semantic similarity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2242245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memory.search(user_id, query)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7950" y="2612975"/>
            <a:ext cx="3937099" cy="789682"/>
          </a:xfrm>
          <a:prstGeom prst="roundRect">
            <a:avLst>
              <a:gd name="adj" fmla="val 964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739926"/>
            <a:ext cx="370494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Inject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350" y="2955727"/>
            <a:ext cx="37049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memories into the system prompt via {long_term_memory} placeholder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504158"/>
            <a:ext cx="3937099" cy="822722"/>
          </a:xfrm>
          <a:prstGeom prst="roundRect">
            <a:avLst>
              <a:gd name="adj" fmla="val 926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3631109"/>
            <a:ext cx="370494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Update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350" y="3846909"/>
            <a:ext cx="37049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invocation, extract and store new memories in background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350" y="4057650"/>
            <a:ext cx="370494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bg_update_memory(user_id, messages)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7950" y="4428381"/>
            <a:ext cx="3937099" cy="285750"/>
          </a:xfrm>
          <a:prstGeom prst="roundRect">
            <a:avLst>
              <a:gd name="adj" fmla="val 17778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426" y="4514106"/>
            <a:ext cx="37374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Non-blocking: memory updates run as background tasks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98950" y="762000"/>
            <a:ext cx="4015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Overflow Prevention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98950" y="1155650"/>
            <a:ext cx="401584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strategy prevents messages from exceeding the model's context window.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8950" y="1688753"/>
            <a:ext cx="2161282" cy="234851"/>
          </a:xfrm>
          <a:prstGeom prst="roundRect">
            <a:avLst>
              <a:gd name="adj" fmla="val 216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5901" y="1739503"/>
            <a:ext cx="1945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TOOL RESULT EVICTION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98950" y="1999804"/>
            <a:ext cx="3937099" cy="1103114"/>
          </a:xfrm>
          <a:prstGeom prst="roundRect">
            <a:avLst>
              <a:gd name="adj" fmla="val 6908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0875" y="2136279"/>
            <a:ext cx="36855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results &gt; 80K chars?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0875" y="2359670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output saved to disk. In-state message replaced with head/tail preview.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0875" y="2743051"/>
            <a:ext cx="36855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can call read_file() to access full content on demand.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8950" y="3229868"/>
            <a:ext cx="2703016" cy="234851"/>
          </a:xfrm>
          <a:prstGeom prst="roundRect">
            <a:avLst>
              <a:gd name="adj" fmla="val 216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5901" y="3280618"/>
            <a:ext cx="2498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CONVERSATION SUMMARIZATION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8950" y="3540919"/>
            <a:ext cx="3937099" cy="1326505"/>
          </a:xfrm>
          <a:prstGeom prst="roundRect">
            <a:avLst>
              <a:gd name="adj" fmla="val 5744"/>
            </a:avLst>
          </a:prstGeom>
          <a:solidFill>
            <a:srgbClr val="1C2128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60875" y="3677394"/>
            <a:ext cx="36855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at 85% of window?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0875" y="3900785"/>
            <a:ext cx="36855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Truncate old tool-call args (no LLM call)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0875" y="4124176"/>
            <a:ext cx="36855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If still over, split old/recent and summarize old segment with LLM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0875" y="4507557"/>
            <a:ext cx="368551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transcript always preserved on disk.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THREE COMPLEMENTARY SYSTEMS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762000"/>
            <a:ext cx="2633216" cy="4127599"/>
          </a:xfrm>
          <a:prstGeom prst="roundRect">
            <a:avLst>
              <a:gd name="adj" fmla="val 38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44401" y="781050"/>
            <a:ext cx="2633216" cy="0"/>
          </a:xfrm>
          <a:prstGeom prst="line">
            <a:avLst/>
          </a:prstGeom>
          <a:noFill/>
          <a:ln w="381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72854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44401" y="4884837"/>
            <a:ext cx="26332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163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1627" y="977801"/>
            <a:ext cx="23039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Tracing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627" y="1215926"/>
            <a:ext cx="23039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Observability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1627" y="1502866"/>
            <a:ext cx="2303940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LLM call traced automatically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1627" y="1747986"/>
            <a:ext cx="23039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handler injected into agent config captures full chain of: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1627" y="2144167"/>
            <a:ext cx="2258764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7827" y="2182267"/>
            <a:ext cx="2148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calls + tool invocations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1627" y="2413397"/>
            <a:ext cx="2258764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7827" y="2451497"/>
            <a:ext cx="2148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usage + latency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1627" y="2682627"/>
            <a:ext cx="2258764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7827" y="2720727"/>
            <a:ext cx="2148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call hierarchy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1627" y="2951857"/>
            <a:ext cx="23039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code modifications needed. Traces include environment metadata.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1627" y="3398788"/>
            <a:ext cx="2303940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costs, usage by model, user consumption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55318" y="762000"/>
            <a:ext cx="2633365" cy="4127599"/>
          </a:xfrm>
          <a:prstGeom prst="roundRect">
            <a:avLst>
              <a:gd name="adj" fmla="val 38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55318" y="781050"/>
            <a:ext cx="2633365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83920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55318" y="4884837"/>
            <a:ext cx="2633365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60080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42543" y="977801"/>
            <a:ext cx="2304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Metrics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42543" y="1215926"/>
            <a:ext cx="23040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+ LLM Performance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42543" y="1502866"/>
            <a:ext cx="230409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metrics for both layers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42543" y="1747986"/>
            <a:ext cx="2258913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18743" y="1786086"/>
            <a:ext cx="21486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llm_inference_duration_seconds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42543" y="2017216"/>
            <a:ext cx="2258913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18743" y="2055316"/>
            <a:ext cx="21486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tool_executions_total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42543" y="2286446"/>
            <a:ext cx="2258913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18743" y="2324546"/>
            <a:ext cx="21486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llm_tokens_in / llm_tokens_out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42543" y="2555677"/>
            <a:ext cx="2258913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18743" y="2593777"/>
            <a:ext cx="21486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http_request_duration_seconds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42543" y="2824907"/>
            <a:ext cx="230409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LLM calls flow through model_invoke_with_metrics() for automatic timing and token recording.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42543" y="3431828"/>
            <a:ext cx="23040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Grafana dashboards included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66383" y="762000"/>
            <a:ext cx="2633216" cy="4127599"/>
          </a:xfrm>
          <a:prstGeom prst="roundRect">
            <a:avLst>
              <a:gd name="adj" fmla="val 385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66383" y="781050"/>
            <a:ext cx="2633216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694837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66383" y="4884837"/>
            <a:ext cx="263321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71146" y="762000"/>
            <a:ext cx="0" cy="4127599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3609" y="977801"/>
            <a:ext cx="23039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Logging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53609" y="1215926"/>
            <a:ext cx="23039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00"/>
              </a:spcAft>
              <a:buNone/>
            </a:pPr>
            <a:r>
              <a:rPr lang="en-US" sz="9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structlog with Context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53609" y="1502866"/>
            <a:ext cx="2303940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Machine-parseable, filterable logs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53609" y="1747986"/>
            <a:ext cx="23039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Conventions: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53609" y="1984177"/>
            <a:ext cx="2258764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29809" y="2022277"/>
            <a:ext cx="2148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lowercase_underscore events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53609" y="2253407"/>
            <a:ext cx="2258764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329809" y="2291507"/>
            <a:ext cx="2148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kwargs instead of f-strings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53609" y="2522637"/>
            <a:ext cx="2258764" cy="218480"/>
          </a:xfrm>
          <a:prstGeom prst="roundRect">
            <a:avLst>
              <a:gd name="adj" fmla="val 17439"/>
            </a:avLst>
          </a:prstGeom>
          <a:solidFill>
            <a:srgbClr val="1C21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329809" y="2560737"/>
            <a:ext cx="214849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 + user_id binding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53609" y="2791867"/>
            <a:ext cx="23039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LoggingContextMiddleware extracts context from JWT on every request.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53609" y="3238798"/>
            <a:ext cx="230394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in dev, JSON in production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INFRASTRUCTURE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4401" y="736550"/>
            <a:ext cx="2889052" cy="1441549"/>
          </a:xfrm>
          <a:prstGeom prst="roundRect">
            <a:avLst>
              <a:gd name="adj" fmla="val 528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876" y="847576"/>
            <a:ext cx="2668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0876" y="1041202"/>
            <a:ext cx="26684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auth with session-per-conversation model. FastAPI dependency injection.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0876" y="1343323"/>
            <a:ext cx="26684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sanitization: HTML stripping, script removal, null byte filtering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34953" y="736550"/>
            <a:ext cx="2889052" cy="1441549"/>
          </a:xfrm>
          <a:prstGeom prst="roundRect">
            <a:avLst>
              <a:gd name="adj" fmla="val 5286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71429" y="847576"/>
            <a:ext cx="2668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71429" y="1041202"/>
            <a:ext cx="26684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Per-endpoint limits via slowapi, configurable per environment.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71429" y="1343323"/>
            <a:ext cx="26684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30/min | stream: 20/min | research: 10/min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44401" y="2279600"/>
            <a:ext cx="2889052" cy="1317724"/>
          </a:xfrm>
          <a:prstGeom prst="roundRect">
            <a:avLst>
              <a:gd name="adj" fmla="val 578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0876" y="2390626"/>
            <a:ext cx="2668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0876" y="2584252"/>
            <a:ext cx="26684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AsyncPostgresSaver checkpoints full graph state after every node execution.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0876" y="2886373"/>
            <a:ext cx="26684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survive restarts. Session cleanup on delete.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34953" y="2279600"/>
            <a:ext cx="2889052" cy="1317724"/>
          </a:xfrm>
          <a:prstGeom prst="roundRect">
            <a:avLst>
              <a:gd name="adj" fmla="val 578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71429" y="2390626"/>
            <a:ext cx="2668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71429" y="2584252"/>
            <a:ext cx="26684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for dynamic tool loading from external servers.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71429" y="2886373"/>
            <a:ext cx="26684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Multi-server, auto-reconnect, graceful degradation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4401" y="3698825"/>
            <a:ext cx="2889052" cy="1317724"/>
          </a:xfrm>
          <a:prstGeom prst="roundRect">
            <a:avLst>
              <a:gd name="adj" fmla="val 578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0876" y="3809851"/>
            <a:ext cx="2668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Framework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876" y="4003477"/>
            <a:ext cx="26684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with auto-discovered metrics from markdown files.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0876" y="4305598"/>
            <a:ext cx="26684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Relevancy, helpfulness, conciseness, hallucination, toxicity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34953" y="3698825"/>
            <a:ext cx="2889052" cy="1317724"/>
          </a:xfrm>
          <a:prstGeom prst="roundRect">
            <a:avLst>
              <a:gd name="adj" fmla="val 5783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71429" y="3809851"/>
            <a:ext cx="26684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71429" y="4003477"/>
            <a:ext cx="2668423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non-root user. Compose: PostgreSQL + Prometheus + Grafana + cAdvisor.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71429" y="4305598"/>
            <a:ext cx="26684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Environment-specific config: dev, staging, prod, test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 CHECKLIST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2582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Harness Solves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1447800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9119" y="1474738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6202" y="1447800"/>
            <a:ext cx="193429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6202" y="1625352"/>
            <a:ext cx="1934295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 + session-per-conversation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7950" y="1841748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9119" y="1868686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6202" y="1841748"/>
            <a:ext cx="20864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Guardrails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6202" y="2019300"/>
            <a:ext cx="20864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filter, prompt injection, PII blocking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7950" y="2235696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9119" y="2262634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6202" y="2235696"/>
            <a:ext cx="17500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Guardrails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6202" y="2413248"/>
            <a:ext cx="175000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redaction, LLM safety evaluation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7950" y="2629644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9119" y="2656582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6202" y="2629644"/>
            <a:ext cx="199775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6202" y="2807196"/>
            <a:ext cx="199775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mem0 + pgvector, per-user, non-blocking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7950" y="3023592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9119" y="3050530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6202" y="3023592"/>
            <a:ext cx="227813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Management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6202" y="3201144"/>
            <a:ext cx="2278133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Tool-result eviction, conversation summarization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7950" y="3557736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9119" y="3584674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6202" y="3557736"/>
            <a:ext cx="223335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6202" y="3735288"/>
            <a:ext cx="2233351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AsyncPostgresSaver automatic checkpointing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7950" y="3951684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9119" y="3978622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6202" y="3951684"/>
            <a:ext cx="2227278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6202" y="4129236"/>
            <a:ext cx="222727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endpoints with token-by-token streaming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42816" y="1181100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03984" y="1208038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41068" y="1181100"/>
            <a:ext cx="171342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41068" y="1358652"/>
            <a:ext cx="171342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+ Prometheus + structlog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42816" y="1575048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03984" y="1601986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41068" y="1575048"/>
            <a:ext cx="20744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41068" y="1752600"/>
            <a:ext cx="2074411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Per-endpoint via slowapi, env-configurable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42816" y="1968996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03984" y="1995934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41068" y="1968996"/>
            <a:ext cx="202340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41068" y="2146548"/>
            <a:ext cx="2023405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with backoff, graceful degradation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42816" y="2362944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03984" y="2389882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41068" y="2362944"/>
            <a:ext cx="190272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41068" y="2540496"/>
            <a:ext cx="190272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LLM-as-judge, auto-discovered metrics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42816" y="2756892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303984" y="2783830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541068" y="2756892"/>
            <a:ext cx="204344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541068" y="2934444"/>
            <a:ext cx="204344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Compose + full monitoring stack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42816" y="3150840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303984" y="3177778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41068" y="3150840"/>
            <a:ext cx="196389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541068" y="3328392"/>
            <a:ext cx="196389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Multi-server tools, reconnection, fallback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242816" y="3544788"/>
            <a:ext cx="196751" cy="196751"/>
          </a:xfrm>
          <a:prstGeom prst="roundRect">
            <a:avLst>
              <a:gd name="adj" fmla="val 19365"/>
            </a:avLst>
          </a:prstGeom>
          <a:solidFill>
            <a:srgbClr val="1A2F1A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303984" y="3571726"/>
            <a:ext cx="75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541068" y="3544788"/>
            <a:ext cx="1658011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541068" y="3722340"/>
            <a:ext cx="1658011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graph, multi-agent, ReAct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77701"/>
            <a:ext cx="8808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762000"/>
            <a:ext cx="3198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 to Production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23497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8707" y="129837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251" y="1234976"/>
            <a:ext cx="151197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agent directory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251" y="1455837"/>
            <a:ext cx="151197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src/app/agents/my_agent/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172506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8707" y="178846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251" y="1725067"/>
            <a:ext cx="274265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251" y="1945928"/>
            <a:ext cx="2742655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graph, multi-agent subgraphs, or ReAct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27588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8707" y="2339280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251" y="2275880"/>
            <a:ext cx="278364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system prompt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251" y="2496741"/>
            <a:ext cx="278364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template with {long_term_memory} placeholder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300439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8707" y="306779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251" y="3004393"/>
            <a:ext cx="270318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agent class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251" y="3225254"/>
            <a:ext cx="2703186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agent_invoke() + optional streaming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950" y="355520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8707" y="361860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251" y="3555206"/>
            <a:ext cx="254105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to API endpoint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251" y="3776067"/>
            <a:ext cx="254105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route with rate limiting in src/app/api/v1/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97213" y="762000"/>
            <a:ext cx="2565350" cy="276225"/>
          </a:xfrm>
          <a:prstGeom prst="roundRect">
            <a:avLst>
              <a:gd name="adj" fmla="val 27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97213" y="766763"/>
            <a:ext cx="25653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57801" y="762000"/>
            <a:ext cx="0" cy="276225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01976" y="762000"/>
            <a:ext cx="0" cy="276225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84439" y="847725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directory structure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97213" y="1038225"/>
            <a:ext cx="2565350" cy="2557463"/>
          </a:xfrm>
          <a:prstGeom prst="roundRect">
            <a:avLst>
              <a:gd name="adj" fmla="val 2980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84439" y="1200150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src/app/agents/my_agent/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84439" y="1339751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__init__.py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84439" y="1479352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084439" y="1618952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system.md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084439" y="1758553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84439" y="1898154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__init__.py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084439" y="2037755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my_tool.py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84439" y="2316956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harness handles: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84439" y="2456557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Auth &amp; sessions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84439" y="2596158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Memory retrieval/update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84439" y="2735759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Checkpointing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84439" y="2875359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Metrics &amp; tracing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84439" y="3014960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Guardrails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84439" y="3154561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Rate limiting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084439" y="3294162"/>
            <a:ext cx="22347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Streaming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781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3073598"/>
            <a:ext cx="1816001" cy="1816001"/>
          </a:xfrm>
          <a:prstGeom prst="roundRect">
            <a:avLst>
              <a:gd name="adj" fmla="val 50352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08999" y="126950"/>
            <a:ext cx="1308050" cy="1308050"/>
          </a:xfrm>
          <a:prstGeom prst="roundRect">
            <a:avLst>
              <a:gd name="adj" fmla="val 69906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067842"/>
            <a:ext cx="621792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It. Swap In Your Agent. Ship.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7950" y="1680567"/>
            <a:ext cx="6217920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80"/>
              </a:lnSpc>
              <a:spcAft>
                <a:spcPts val="2400"/>
              </a:spcAft>
              <a:buNone/>
            </a:pP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a working agent and a production agent is not the LLM logic -- it is </a:t>
            </a: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around it</a:t>
            </a:r>
            <a:r>
              <a:rPr lang="en-US" sz="13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Solve these problems once, then focus on what matters: the agent's behavior.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777430"/>
            <a:ext cx="1051768" cy="364927"/>
          </a:xfrm>
          <a:prstGeom prst="roundRect">
            <a:avLst>
              <a:gd name="adj" fmla="val 2088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5176" y="2888456"/>
            <a:ext cx="6908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86669" y="2777430"/>
            <a:ext cx="847279" cy="364927"/>
          </a:xfrm>
          <a:prstGeom prst="roundRect">
            <a:avLst>
              <a:gd name="adj" fmla="val 2088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73895" y="2888456"/>
            <a:ext cx="4822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60898" y="2777430"/>
            <a:ext cx="938808" cy="364927"/>
          </a:xfrm>
          <a:prstGeom prst="roundRect">
            <a:avLst>
              <a:gd name="adj" fmla="val 2088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8124" y="2888456"/>
            <a:ext cx="5756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26656" y="2777430"/>
            <a:ext cx="1108323" cy="364927"/>
          </a:xfrm>
          <a:prstGeom prst="roundRect">
            <a:avLst>
              <a:gd name="adj" fmla="val 2088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13882" y="2888456"/>
            <a:ext cx="7485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1930" y="2777430"/>
            <a:ext cx="656630" cy="364927"/>
          </a:xfrm>
          <a:prstGeom prst="roundRect">
            <a:avLst>
              <a:gd name="adj" fmla="val 20881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9155" y="2888456"/>
            <a:ext cx="2878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3396258"/>
            <a:ext cx="5533876" cy="6794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31763" y="3396258"/>
            <a:ext cx="0" cy="679400"/>
          </a:xfrm>
          <a:prstGeom prst="line">
            <a:avLst/>
          </a:prstGeom>
          <a:noFill/>
          <a:ln w="47625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726" y="3548658"/>
            <a:ext cx="51815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code available on GitHub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726" y="3770858"/>
            <a:ext cx="5181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-- Apache 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1553</Words>
  <Application>Microsoft Macintosh PowerPoint</Application>
  <PresentationFormat>On-screen Show (16:9)</PresentationFormat>
  <Paragraphs>303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Production-Ready AI Agent Harness</dc:title>
  <dc:subject>PptxGenJS Presentation</dc:subject>
  <dc:creator>AI Agent Harness Project</dc:creator>
  <cp:lastModifiedBy>Alexsandro Souza</cp:lastModifiedBy>
  <cp:revision>2</cp:revision>
  <dcterms:created xsi:type="dcterms:W3CDTF">2026-03-12T21:30:15Z</dcterms:created>
  <dcterms:modified xsi:type="dcterms:W3CDTF">2026-03-12T21:42:04Z</dcterms:modified>
</cp:coreProperties>
</file>